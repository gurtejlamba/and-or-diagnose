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28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029200"/>
            <a:ext cx="12188952" cy="109728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9601200" y="274320"/>
            <a:ext cx="2560320" cy="2560320"/>
          </a:xfrm>
          <a:prstGeom prst="ellipse">
            <a:avLst/>
          </a:prstGeom>
          <a:solidFill>
            <a:srgbClr val="1A5C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097280"/>
            <a:ext cx="9144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400" b="1" i="0">
                <a:solidFill>
                  <a:srgbClr val="FFFFFF"/>
                </a:solidFill>
              </a:rPr>
              <a:t>AI Device Troubleshooting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920240"/>
            <a:ext cx="9144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400" b="1" i="0">
                <a:solidFill>
                  <a:srgbClr val="00B0F0"/>
                </a:solidFill>
              </a:rPr>
              <a:t>Assistant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83464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 i="0">
                <a:solidFill>
                  <a:srgbClr val="CCDDFF"/>
                </a:solidFill>
              </a:rPr>
              <a:t>Using AO* Algorithm on AND-OR Fault Graphs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3520440"/>
            <a:ext cx="4114800" cy="45720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365760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606060"/>
                </a:solidFill>
              </a:rPr>
              <a:t>AISC Project Presentation  |  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420624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</a:rPr>
              <a:t>Gurtej Singh Lamba  (2427030405)      Abhiyansh Bhansali  (2427030437)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3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280160"/>
          </a:xfrm>
          <a:prstGeom prst="rect">
            <a:avLst/>
          </a:prstGeom>
          <a:solidFill>
            <a:srgbClr val="0F28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</a:rPr>
              <a:t>The Problem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7315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00B0F0"/>
                </a:solidFill>
              </a:rPr>
              <a:t>Why random fixing is expensive and unreliable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80160"/>
            <a:ext cx="12188952" cy="54864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583680"/>
            <a:ext cx="12188952" cy="274320"/>
          </a:xfrm>
          <a:prstGeom prst="rect">
            <a:avLst/>
          </a:prstGeom>
          <a:solidFill>
            <a:srgbClr val="0F28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" y="6601968"/>
            <a:ext cx="10972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00B0F0"/>
                </a:solidFill>
              </a:rPr>
              <a:t>AI Device Troubleshooting Assistant  |  AO* on AND-OR Graphs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1463040"/>
            <a:ext cx="5303520" cy="43891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1554480"/>
            <a:ext cx="493776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1">
                <a:solidFill>
                  <a:srgbClr val="0F2850"/>
                </a:solidFill>
              </a:rPr>
              <a:t>The Diagnosis Challenge</a:t>
            </a:r>
          </a:p>
          <a:p>
            <a:pPr algn="l"/>
            <a:r>
              <a:rPr sz="1700">
                <a:solidFill>
                  <a:srgbClr val="1E1E1E"/>
                </a:solidFill>
              </a:rPr>
              <a:t>One symptom = many possible causes</a:t>
            </a:r>
          </a:p>
          <a:p>
            <a:pPr algn="l"/>
            <a:r>
              <a:rPr sz="1700">
                <a:solidFill>
                  <a:srgbClr val="1E1E1E"/>
                </a:solidFill>
              </a:rPr>
              <a:t/>
            </a:r>
          </a:p>
          <a:p>
            <a:pPr algn="l"/>
            <a:r>
              <a:rPr sz="1700">
                <a:solidFill>
                  <a:srgbClr val="1E1E1E"/>
                </a:solidFill>
              </a:rPr>
              <a:t>Laptop won't start could be:</a:t>
            </a:r>
          </a:p>
          <a:p>
            <a:pPr algn="l"/>
            <a:r>
              <a:rPr sz="1700">
                <a:solidFill>
                  <a:srgbClr val="1E1E1E"/>
                </a:solidFill>
              </a:rPr>
              <a:t>   - Corrupted OS  ($0 to fix)</a:t>
            </a:r>
          </a:p>
          <a:p>
            <a:pPr algn="l"/>
            <a:r>
              <a:rPr sz="1700">
                <a:solidFill>
                  <a:srgbClr val="1E1E1E"/>
                </a:solidFill>
              </a:rPr>
              <a:t>   - Dead battery   ($50 to fix)</a:t>
            </a:r>
          </a:p>
          <a:p>
            <a:pPr algn="l"/>
            <a:r>
              <a:rPr sz="1700">
                <a:solidFill>
                  <a:srgbClr val="1E1E1E"/>
                </a:solidFill>
              </a:rPr>
              <a:t>   - Cracked screen ($120 to fix)</a:t>
            </a:r>
          </a:p>
          <a:p>
            <a:pPr algn="l"/>
            <a:r>
              <a:rPr sz="1700">
                <a:solidFill>
                  <a:srgbClr val="1E1E1E"/>
                </a:solidFill>
              </a:rPr>
              <a:t>   - Failed board   ($280 to fix)</a:t>
            </a:r>
          </a:p>
          <a:p>
            <a:pPr algn="l"/>
            <a:r>
              <a:rPr sz="1700">
                <a:solidFill>
                  <a:srgbClr val="1E1E1E"/>
                </a:solidFill>
              </a:rPr>
              <a:t/>
            </a:r>
          </a:p>
          <a:p>
            <a:pPr algn="l"/>
            <a:r>
              <a:rPr sz="1700">
                <a:solidFill>
                  <a:srgbClr val="1E1E1E"/>
                </a:solidFill>
              </a:rPr>
              <a:t>Fixes are also inter-dependent:</a:t>
            </a:r>
          </a:p>
          <a:p>
            <a:pPr algn="l"/>
            <a:r>
              <a:rPr sz="1700">
                <a:solidFill>
                  <a:srgbClr val="1E1E1E"/>
                </a:solidFill>
              </a:rPr>
              <a:t>   - Some are alternatives (OR)</a:t>
            </a:r>
          </a:p>
          <a:p>
            <a:pPr algn="l"/>
            <a:r>
              <a:rPr sz="1700">
                <a:solidFill>
                  <a:srgbClr val="1E1E1E"/>
                </a:solidFill>
              </a:rPr>
              <a:t>   - Some are sequential steps (AND)</a:t>
            </a:r>
          </a:p>
        </p:txBody>
      </p:sp>
      <p:sp>
        <p:nvSpPr>
          <p:cNvPr id="10" name="Rectangle 9"/>
          <p:cNvSpPr/>
          <p:nvPr/>
        </p:nvSpPr>
        <p:spPr>
          <a:xfrm>
            <a:off x="6309360" y="1463040"/>
            <a:ext cx="5486400" cy="43891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92240" y="1554480"/>
            <a:ext cx="512064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1">
                <a:solidFill>
                  <a:srgbClr val="C02020"/>
                </a:solidFill>
              </a:rPr>
              <a:t>The Cost of Random Fixing</a:t>
            </a:r>
          </a:p>
          <a:p>
            <a:pPr algn="l"/>
            <a:r>
              <a:rPr sz="1700">
                <a:solidFill>
                  <a:srgbClr val="1E1E1E"/>
                </a:solidFill>
              </a:rPr>
              <a:t>Users try fixes in random order</a:t>
            </a:r>
          </a:p>
          <a:p>
            <a:pPr algn="l"/>
            <a:r>
              <a:rPr sz="1700">
                <a:solidFill>
                  <a:srgbClr val="1E1E1E"/>
                </a:solidFill>
              </a:rPr>
              <a:t/>
            </a:r>
          </a:p>
          <a:p>
            <a:pPr algn="l"/>
            <a:r>
              <a:rPr sz="1700">
                <a:solidFill>
                  <a:srgbClr val="1E1E1E"/>
                </a:solidFill>
              </a:rPr>
              <a:t>Random avg cost:   $272</a:t>
            </a:r>
          </a:p>
          <a:p>
            <a:pPr algn="l"/>
            <a:r>
              <a:rPr sz="1700">
                <a:solidFill>
                  <a:srgbClr val="1E1E1E"/>
                </a:solidFill>
              </a:rPr>
              <a:t>Random worst case: $535</a:t>
            </a:r>
          </a:p>
          <a:p>
            <a:pPr algn="l"/>
            <a:r>
              <a:rPr sz="1700">
                <a:solidFill>
                  <a:srgbClr val="1E1E1E"/>
                </a:solidFill>
              </a:rPr>
              <a:t>Random avg time:   223 min</a:t>
            </a:r>
          </a:p>
          <a:p>
            <a:pPr algn="l"/>
            <a:r>
              <a:rPr sz="1700">
                <a:solidFill>
                  <a:srgbClr val="1E1E1E"/>
                </a:solidFill>
              </a:rPr>
              <a:t/>
            </a:r>
          </a:p>
          <a:p>
            <a:pPr algn="l"/>
            <a:r>
              <a:rPr sz="1700">
                <a:solidFill>
                  <a:srgbClr val="1E1E1E"/>
                </a:solidFill>
              </a:rPr>
              <a:t>AO* optimal cost:  $0</a:t>
            </a:r>
          </a:p>
          <a:p>
            <a:pPr algn="l"/>
            <a:r>
              <a:rPr sz="1700">
                <a:solidFill>
                  <a:srgbClr val="1E1E1E"/>
                </a:solidFill>
              </a:rPr>
              <a:t>AO* time:          10 min</a:t>
            </a:r>
          </a:p>
          <a:p>
            <a:pPr algn="l"/>
            <a:r>
              <a:rPr sz="1700">
                <a:solidFill>
                  <a:srgbClr val="1E1E1E"/>
                </a:solidFill>
              </a:rPr>
              <a:t/>
            </a:r>
          </a:p>
          <a:p>
            <a:pPr algn="l"/>
            <a:r>
              <a:rPr sz="1700">
                <a:solidFill>
                  <a:srgbClr val="1E1E1E"/>
                </a:solidFill>
              </a:rPr>
              <a:t>Savings:  ~100% cost</a:t>
            </a:r>
          </a:p>
          <a:p>
            <a:pPr algn="l"/>
            <a:r>
              <a:rPr sz="1700">
                <a:solidFill>
                  <a:srgbClr val="1E1E1E"/>
                </a:solidFill>
              </a:rPr>
              <a:t>           ~213 minutes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32120" y="3291840"/>
            <a:ext cx="8229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>
                <a:solidFill>
                  <a:srgbClr val="0F2850"/>
                </a:solidFill>
              </a:rPr>
              <a:t>VS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3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280160"/>
          </a:xfrm>
          <a:prstGeom prst="rect">
            <a:avLst/>
          </a:prstGeom>
          <a:solidFill>
            <a:srgbClr val="0F28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</a:rPr>
              <a:t>AI Approach: AND-OR Graphs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7315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00B0F0"/>
                </a:solidFill>
              </a:rPr>
              <a:t>Encoding device faults as a structured search problem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80160"/>
            <a:ext cx="12188952" cy="54864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583680"/>
            <a:ext cx="12188952" cy="274320"/>
          </a:xfrm>
          <a:prstGeom prst="rect">
            <a:avLst/>
          </a:prstGeom>
          <a:solidFill>
            <a:srgbClr val="0F28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" y="6601968"/>
            <a:ext cx="10972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00B0F0"/>
                </a:solidFill>
              </a:rPr>
              <a:t>AI Device Troubleshooting Assistant  |  AO* on AND-OR Graphs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1554480"/>
            <a:ext cx="3566160" cy="2011680"/>
          </a:xfrm>
          <a:prstGeom prst="rect">
            <a:avLst/>
          </a:prstGeom>
          <a:solidFill>
            <a:srgbClr val="1A5C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1645920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</a:rPr>
              <a:t>OR Node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2103120"/>
            <a:ext cx="3200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</a:rPr>
              <a:t>Problem solved when ANY ONE
child is resolved.
Example: 'Laptop Won't Start'
could be power OR software
OR display OR hardware.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297680" y="1554480"/>
            <a:ext cx="3566160" cy="2011680"/>
          </a:xfrm>
          <a:prstGeom prst="rect">
            <a:avLst/>
          </a:prstGeom>
          <a:solidFill>
            <a:srgbClr val="007A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480560" y="1645920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</a:rPr>
              <a:t>AND Node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80560" y="2103120"/>
            <a:ext cx="3200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</a:rPr>
              <a:t>Problem solved only when ALL
children are resolved.
Example: 'Printer Connection'
needs cable reseated AND
driver reinstalled.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229600" y="1554480"/>
            <a:ext cx="3566160" cy="2011680"/>
          </a:xfrm>
          <a:prstGeom prst="rect">
            <a:avLst/>
          </a:prstGeom>
          <a:solidFill>
            <a:srgbClr val="7B2D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412480" y="1645920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</a:rPr>
              <a:t>LEAF Node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12480" y="2103120"/>
            <a:ext cx="3200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</a:rPr>
              <a:t>A concrete repair action
with a known cost and time.
Example: 'Replace Battery'
  Cost: $50
  Time: 30 min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65760" y="3749039"/>
            <a:ext cx="11430000" cy="25603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48640" y="379476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F2850"/>
                </a:solidFill>
              </a:rPr>
              <a:t>Example Tree: Laptop Won't Start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" y="4160520"/>
            <a:ext cx="1143000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E1E1E"/>
                </a:solidFill>
              </a:rPr>
              <a:t>[OR]  Laptop Won't Start
   [OR]  Software Issue   -&gt; Boot Safe Mode $0  |  Startup Repair $0  |  Reinstall OS $0
   [OR]  Power Issue      -&gt; Static Reset $0    |  Charger $15        |  Battery $50
   [OR]  Display Issue    -&gt; Ext. Monitor $0    |  Reseat Cable $0    |  Screen $120
   [OR]  Hardware Issue   -&gt; Reseat RAM $0      |  Replace SSD $70    |  Motherboard $280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3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280160"/>
          </a:xfrm>
          <a:prstGeom prst="rect">
            <a:avLst/>
          </a:prstGeom>
          <a:solidFill>
            <a:srgbClr val="0F28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</a:rPr>
              <a:t>AO* Algorithm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7315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00B0F0"/>
                </a:solidFill>
              </a:rPr>
              <a:t>Heuristic search that finds the minimum-cost solution subgraph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80160"/>
            <a:ext cx="12188952" cy="54864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583680"/>
            <a:ext cx="12188952" cy="274320"/>
          </a:xfrm>
          <a:prstGeom prst="rect">
            <a:avLst/>
          </a:prstGeom>
          <a:solidFill>
            <a:srgbClr val="0F28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" y="6601968"/>
            <a:ext cx="10972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00B0F0"/>
                </a:solidFill>
              </a:rPr>
              <a:t>AI Device Troubleshooting Assistant  |  AO* on AND-OR Graphs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1463040"/>
            <a:ext cx="5394960" cy="3200400"/>
          </a:xfrm>
          <a:prstGeom prst="rect">
            <a:avLst/>
          </a:prstGeom>
          <a:solidFill>
            <a:srgbClr val="0F28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94360" y="1554480"/>
            <a:ext cx="4937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00B0F0"/>
                </a:solidFill>
              </a:rPr>
              <a:t>Cost Propagation Rules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2011680"/>
            <a:ext cx="5029200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>
                <a:solidFill>
                  <a:srgbClr val="FFFFFF"/>
                </a:solidFill>
              </a:rPr>
              <a:t>LEAF node:</a:t>
            </a:r>
          </a:p>
          <a:p>
            <a:pPr algn="l"/>
            <a:r>
              <a:rPr sz="1500">
                <a:solidFill>
                  <a:srgbClr val="FFFFFF"/>
                </a:solidFill>
              </a:rPr>
              <a:t>  f(n) = actual repair cost</a:t>
            </a:r>
          </a:p>
          <a:p>
            <a:pPr algn="l"/>
            <a:r>
              <a:rPr sz="1500">
                <a:solidFill>
                  <a:srgbClr val="FFFFFF"/>
                </a:solidFill>
              </a:rPr>
              <a:t/>
            </a:r>
          </a:p>
          <a:p>
            <a:pPr algn="l"/>
            <a:r>
              <a:rPr sz="1500">
                <a:solidFill>
                  <a:srgbClr val="FFFFFF"/>
                </a:solidFill>
              </a:rPr>
              <a:t>OR node:</a:t>
            </a:r>
          </a:p>
          <a:p>
            <a:pPr algn="l"/>
            <a:r>
              <a:rPr sz="1500">
                <a:solidFill>
                  <a:srgbClr val="FFFFFF"/>
                </a:solidFill>
              </a:rPr>
              <a:t>  f(n) = MIN over children c of</a:t>
            </a:r>
          </a:p>
          <a:p>
            <a:pPr algn="l"/>
            <a:r>
              <a:rPr sz="1500">
                <a:solidFill>
                  <a:srgbClr val="FFFFFF"/>
                </a:solidFill>
              </a:rPr>
              <a:t>         [ edge_cost + f(c) ]</a:t>
            </a:r>
          </a:p>
          <a:p>
            <a:pPr algn="l"/>
            <a:r>
              <a:rPr sz="1500">
                <a:solidFill>
                  <a:srgbClr val="FFFFFF"/>
                </a:solidFill>
              </a:rPr>
              <a:t/>
            </a:r>
          </a:p>
          <a:p>
            <a:pPr algn="l"/>
            <a:r>
              <a:rPr sz="1500">
                <a:solidFill>
                  <a:srgbClr val="FFFFFF"/>
                </a:solidFill>
              </a:rPr>
              <a:t>AND node:</a:t>
            </a:r>
          </a:p>
          <a:p>
            <a:pPr algn="l"/>
            <a:r>
              <a:rPr sz="1500">
                <a:solidFill>
                  <a:srgbClr val="FFFFFF"/>
                </a:solidFill>
              </a:rPr>
              <a:t>  f(n) = SUM over all children c of</a:t>
            </a:r>
          </a:p>
          <a:p>
            <a:pPr algn="l"/>
            <a:r>
              <a:rPr sz="1500">
                <a:solidFill>
                  <a:srgbClr val="FFFFFF"/>
                </a:solidFill>
              </a:rPr>
              <a:t>         [ edge_cost + f(c) ]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126480" y="1463040"/>
            <a:ext cx="5669280" cy="32004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55080" y="1554480"/>
            <a:ext cx="5212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0F2850"/>
                </a:solidFill>
              </a:rPr>
              <a:t>Algorithm Steps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55080" y="2011680"/>
            <a:ext cx="5212080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>
                <a:solidFill>
                  <a:srgbClr val="1E1E1E"/>
                </a:solidFill>
              </a:rPr>
              <a:t>1.  Build the AND-OR graph (knowledge base)</a:t>
            </a:r>
          </a:p>
          <a:p>
            <a:pPr algn="l"/>
            <a:r>
              <a:rPr sz="1400">
                <a:solidFill>
                  <a:srgbClr val="1E1E1E"/>
                </a:solidFill>
              </a:rPr>
              <a:t>2.  Compute all f(n) values bottom-up</a:t>
            </a:r>
          </a:p>
          <a:p>
            <a:pPr algn="l"/>
            <a:r>
              <a:rPr sz="1400">
                <a:solidFill>
                  <a:srgbClr val="1E1E1E"/>
                </a:solidFill>
              </a:rPr>
              <a:t>     (leaves first, root last)</a:t>
            </a:r>
          </a:p>
          <a:p>
            <a:pPr algn="l"/>
            <a:r>
              <a:rPr sz="1400">
                <a:solidFill>
                  <a:srgbClr val="1E1E1E"/>
                </a:solidFill>
              </a:rPr>
              <a:t>3.  Extract solution path following</a:t>
            </a:r>
          </a:p>
          <a:p>
            <a:pPr algn="l"/>
            <a:r>
              <a:rPr sz="1400">
                <a:solidFill>
                  <a:srgbClr val="1E1E1E"/>
                </a:solidFill>
              </a:rPr>
              <a:t>     best_child at each OR node,</a:t>
            </a:r>
          </a:p>
          <a:p>
            <a:pPr algn="l"/>
            <a:r>
              <a:rPr sz="1400">
                <a:solidFill>
                  <a:srgbClr val="1E1E1E"/>
                </a:solidFill>
              </a:rPr>
              <a:t>     all children at each AND node</a:t>
            </a:r>
          </a:p>
          <a:p>
            <a:pPr algn="l"/>
            <a:r>
              <a:rPr sz="1400">
                <a:solidFill>
                  <a:srgbClr val="1E1E1E"/>
                </a:solidFill>
              </a:rPr>
              <a:t>4.  User attempts each step (Y / N)</a:t>
            </a:r>
          </a:p>
          <a:p>
            <a:pPr algn="l"/>
            <a:r>
              <a:rPr sz="1400">
                <a:solidFill>
                  <a:srgbClr val="1E1E1E"/>
                </a:solidFill>
              </a:rPr>
              <a:t>5.  On FAIL: mark node f = infinity,</a:t>
            </a:r>
          </a:p>
          <a:p>
            <a:pPr algn="l"/>
            <a:r>
              <a:rPr sz="1400">
                <a:solidFill>
                  <a:srgbClr val="1E1E1E"/>
                </a:solidFill>
              </a:rPr>
              <a:t>     propagate up in O(depth) time</a:t>
            </a:r>
          </a:p>
          <a:p>
            <a:pPr algn="l"/>
            <a:r>
              <a:rPr sz="1400">
                <a:solidFill>
                  <a:srgbClr val="1E1E1E"/>
                </a:solidFill>
              </a:rPr>
              <a:t>6.  Re-extract path -&gt; instant replan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65760" y="4846320"/>
            <a:ext cx="11430000" cy="1371600"/>
          </a:xfrm>
          <a:prstGeom prst="rect">
            <a:avLst/>
          </a:prstGeom>
          <a:solidFill>
            <a:srgbClr val="1A5C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8640" y="4919472"/>
            <a:ext cx="26517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C000"/>
                </a:solidFill>
              </a:rPr>
              <a:t>Complete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5303520"/>
            <a:ext cx="26517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Finds solution if one exists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383280" y="4919472"/>
            <a:ext cx="26517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C000"/>
                </a:solidFill>
              </a:rPr>
              <a:t>Optimal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383280" y="5303520"/>
            <a:ext cx="26517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Minimum cost guaranteed (admissible h)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17920" y="4919472"/>
            <a:ext cx="26517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C000"/>
                </a:solidFill>
              </a:rPr>
              <a:t>Replan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17920" y="5303520"/>
            <a:ext cx="26517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O(depth) per failed step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052560" y="4919472"/>
            <a:ext cx="26517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C000"/>
                </a:solidFill>
              </a:rPr>
              <a:t>Practical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052560" y="5303520"/>
            <a:ext cx="26517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&lt; 1ms per operation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3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280160"/>
          </a:xfrm>
          <a:prstGeom prst="rect">
            <a:avLst/>
          </a:prstGeom>
          <a:solidFill>
            <a:srgbClr val="0F28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</a:rPr>
              <a:t>Live Example: Laptop Won't Start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7315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00B0F0"/>
                </a:solidFill>
              </a:rPr>
              <a:t>AO* guides from free fixes to paid — never the other way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80160"/>
            <a:ext cx="12188952" cy="54864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583680"/>
            <a:ext cx="12188952" cy="274320"/>
          </a:xfrm>
          <a:prstGeom prst="rect">
            <a:avLst/>
          </a:prstGeom>
          <a:solidFill>
            <a:srgbClr val="0F28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" y="6601968"/>
            <a:ext cx="10972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00B0F0"/>
                </a:solidFill>
              </a:rPr>
              <a:t>AI Device Troubleshooting Assistant  |  AO* on AND-OR Graphs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1417320"/>
            <a:ext cx="11430000" cy="411480"/>
          </a:xfrm>
          <a:prstGeom prst="rect">
            <a:avLst/>
          </a:prstGeom>
          <a:solidFill>
            <a:srgbClr val="0F28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1444752"/>
            <a:ext cx="6400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Step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14800" y="1444752"/>
            <a:ext cx="1828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Fix Action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0" y="1444752"/>
            <a:ext cx="7315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Cost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412480" y="1444752"/>
            <a:ext cx="914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Time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18320" y="1444752"/>
            <a:ext cx="3200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Note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65760" y="1874519"/>
            <a:ext cx="11430000" cy="521207"/>
          </a:xfrm>
          <a:prstGeom prst="rect">
            <a:avLst/>
          </a:prstGeom>
          <a:solidFill>
            <a:srgbClr val="F0F3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65760" y="1874519"/>
            <a:ext cx="1371600" cy="521207"/>
          </a:xfrm>
          <a:prstGeom prst="rect">
            <a:avLst/>
          </a:prstGeom>
          <a:solidFill>
            <a:srgbClr val="007A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11480" y="1938527"/>
            <a:ext cx="12801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Step 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74519" y="1938527"/>
            <a:ext cx="53035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E1E1E"/>
                </a:solidFill>
              </a:rPr>
              <a:t>Boot in Safe Mode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60920" y="1938527"/>
            <a:ext cx="8229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1E1E1E"/>
                </a:solidFill>
              </a:rPr>
              <a:t>$0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58200" y="1938527"/>
            <a:ext cx="914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1E1E1E"/>
                </a:solidFill>
              </a:rPr>
              <a:t>10 min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464040" y="1938527"/>
            <a:ext cx="2286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06060"/>
                </a:solidFill>
              </a:rPr>
              <a:t>AO* initial recommendation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65760" y="2423160"/>
            <a:ext cx="11430000" cy="521207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365760" y="2423160"/>
            <a:ext cx="1371600" cy="521207"/>
          </a:xfrm>
          <a:prstGeom prst="rect">
            <a:avLst/>
          </a:prstGeom>
          <a:solidFill>
            <a:srgbClr val="007A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11480" y="2487168"/>
            <a:ext cx="12801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Step 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874519" y="2487168"/>
            <a:ext cx="53035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E1E1E"/>
                </a:solidFill>
              </a:rPr>
              <a:t>Run Startup Repair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360920" y="2487168"/>
            <a:ext cx="8229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1E1E1E"/>
                </a:solidFill>
              </a:rPr>
              <a:t>$0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458200" y="2487168"/>
            <a:ext cx="914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1E1E1E"/>
                </a:solidFill>
              </a:rPr>
              <a:t>30 min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464040" y="2487168"/>
            <a:ext cx="2286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06060"/>
                </a:solidFill>
              </a:rPr>
              <a:t>After Step 1 fails -&gt; replan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65760" y="2971800"/>
            <a:ext cx="11430000" cy="521207"/>
          </a:xfrm>
          <a:prstGeom prst="rect">
            <a:avLst/>
          </a:prstGeom>
          <a:solidFill>
            <a:srgbClr val="F0F3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365760" y="2971800"/>
            <a:ext cx="1371600" cy="521207"/>
          </a:xfrm>
          <a:prstGeom prst="rect">
            <a:avLst/>
          </a:prstGeom>
          <a:solidFill>
            <a:srgbClr val="007A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11480" y="3035808"/>
            <a:ext cx="12801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Step 3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874519" y="3035808"/>
            <a:ext cx="53035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E1E1E"/>
                </a:solidFill>
              </a:rPr>
              <a:t>Reinstall OS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360920" y="3035808"/>
            <a:ext cx="8229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1E1E1E"/>
                </a:solidFill>
              </a:rPr>
              <a:t>$0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458200" y="3035808"/>
            <a:ext cx="914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1E1E1E"/>
                </a:solidFill>
              </a:rPr>
              <a:t>90 min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464040" y="3035808"/>
            <a:ext cx="2286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06060"/>
                </a:solidFill>
              </a:rPr>
              <a:t>After Step 2 fails -&gt; replan</a:t>
            </a:r>
          </a:p>
        </p:txBody>
      </p:sp>
      <p:sp>
        <p:nvSpPr>
          <p:cNvPr id="35" name="Rectangle 34"/>
          <p:cNvSpPr/>
          <p:nvPr/>
        </p:nvSpPr>
        <p:spPr>
          <a:xfrm>
            <a:off x="365760" y="3520439"/>
            <a:ext cx="11430000" cy="521207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365760" y="3520439"/>
            <a:ext cx="1371600" cy="521207"/>
          </a:xfrm>
          <a:prstGeom prst="rect">
            <a:avLst/>
          </a:prstGeom>
          <a:solidFill>
            <a:srgbClr val="1A5C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11480" y="3584447"/>
            <a:ext cx="12801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Step 4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874519" y="3584447"/>
            <a:ext cx="53035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E1E1E"/>
                </a:solidFill>
              </a:rPr>
              <a:t>Static Discharge Reset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360920" y="3584447"/>
            <a:ext cx="8229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1E1E1E"/>
                </a:solidFill>
              </a:rPr>
              <a:t>$0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458200" y="3584447"/>
            <a:ext cx="914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1E1E1E"/>
                </a:solidFill>
              </a:rPr>
              <a:t>3 min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464040" y="3584447"/>
            <a:ext cx="2286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06060"/>
                </a:solidFill>
              </a:rPr>
              <a:t>Software exhausted -&gt; move to Power</a:t>
            </a:r>
          </a:p>
        </p:txBody>
      </p:sp>
      <p:sp>
        <p:nvSpPr>
          <p:cNvPr id="42" name="Rectangle 41"/>
          <p:cNvSpPr/>
          <p:nvPr/>
        </p:nvSpPr>
        <p:spPr>
          <a:xfrm>
            <a:off x="365760" y="4069079"/>
            <a:ext cx="11430000" cy="521207"/>
          </a:xfrm>
          <a:prstGeom prst="rect">
            <a:avLst/>
          </a:prstGeom>
          <a:solidFill>
            <a:srgbClr val="F0F3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365760" y="4069079"/>
            <a:ext cx="1371600" cy="521207"/>
          </a:xfrm>
          <a:prstGeom prst="rect">
            <a:avLst/>
          </a:prstGeom>
          <a:solidFill>
            <a:srgbClr val="1A5C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411480" y="4133087"/>
            <a:ext cx="12801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Step 5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874519" y="4133087"/>
            <a:ext cx="53035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E1E1E"/>
                </a:solidFill>
              </a:rPr>
              <a:t>Test / Replace Charger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360920" y="4133087"/>
            <a:ext cx="8229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1E1E1E"/>
                </a:solidFill>
              </a:rPr>
              <a:t>$15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458200" y="4133087"/>
            <a:ext cx="914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1E1E1E"/>
                </a:solidFill>
              </a:rPr>
              <a:t>5 min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464040" y="4133087"/>
            <a:ext cx="2286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06060"/>
                </a:solidFill>
              </a:rPr>
              <a:t>After Step 4 fails -&gt; replan</a:t>
            </a:r>
          </a:p>
        </p:txBody>
      </p:sp>
      <p:sp>
        <p:nvSpPr>
          <p:cNvPr id="49" name="Rectangle 48"/>
          <p:cNvSpPr/>
          <p:nvPr/>
        </p:nvSpPr>
        <p:spPr>
          <a:xfrm>
            <a:off x="365760" y="4617720"/>
            <a:ext cx="11430000" cy="521207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365760" y="4617720"/>
            <a:ext cx="1371600" cy="521207"/>
          </a:xfrm>
          <a:prstGeom prst="rect">
            <a:avLst/>
          </a:prstGeom>
          <a:solidFill>
            <a:srgbClr val="1A5C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411480" y="4681728"/>
            <a:ext cx="12801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Step 6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874519" y="4681728"/>
            <a:ext cx="53035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E1E1E"/>
                </a:solidFill>
              </a:rPr>
              <a:t>Replace Battery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7360920" y="4681728"/>
            <a:ext cx="8229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1E1E1E"/>
                </a:solidFill>
              </a:rPr>
              <a:t>$50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458200" y="4681728"/>
            <a:ext cx="914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1E1E1E"/>
                </a:solidFill>
              </a:rPr>
              <a:t>30 min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9464040" y="4681728"/>
            <a:ext cx="2286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06060"/>
                </a:solidFill>
              </a:rPr>
              <a:t>After Step 5 fails -&gt; replan</a:t>
            </a:r>
          </a:p>
        </p:txBody>
      </p:sp>
      <p:sp>
        <p:nvSpPr>
          <p:cNvPr id="56" name="Rectangle 55"/>
          <p:cNvSpPr/>
          <p:nvPr/>
        </p:nvSpPr>
        <p:spPr>
          <a:xfrm>
            <a:off x="365760" y="5166359"/>
            <a:ext cx="11430000" cy="521207"/>
          </a:xfrm>
          <a:prstGeom prst="rect">
            <a:avLst/>
          </a:prstGeom>
          <a:solidFill>
            <a:srgbClr val="F0F3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365760" y="5166359"/>
            <a:ext cx="1371600" cy="521207"/>
          </a:xfrm>
          <a:prstGeom prst="rect">
            <a:avLst/>
          </a:prstGeom>
          <a:solidFill>
            <a:srgbClr val="7B2D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411480" y="5230368"/>
            <a:ext cx="12801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Step 7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1874519" y="5230368"/>
            <a:ext cx="53035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E1E1E"/>
                </a:solidFill>
              </a:rPr>
              <a:t>Reseat RAM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7360920" y="5230368"/>
            <a:ext cx="8229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1E1E1E"/>
                </a:solidFill>
              </a:rPr>
              <a:t>$0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8458200" y="5230368"/>
            <a:ext cx="914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1E1E1E"/>
                </a:solidFill>
              </a:rPr>
              <a:t>15 min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9464040" y="5230368"/>
            <a:ext cx="2286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06060"/>
                </a:solidFill>
              </a:rPr>
              <a:t>Power exhausted -&gt; Hardware</a:t>
            </a:r>
          </a:p>
        </p:txBody>
      </p:sp>
      <p:sp>
        <p:nvSpPr>
          <p:cNvPr id="63" name="Rectangle 62"/>
          <p:cNvSpPr/>
          <p:nvPr/>
        </p:nvSpPr>
        <p:spPr>
          <a:xfrm>
            <a:off x="365760" y="5715000"/>
            <a:ext cx="11430000" cy="521207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365760" y="5715000"/>
            <a:ext cx="1371600" cy="521207"/>
          </a:xfrm>
          <a:prstGeom prst="rect">
            <a:avLst/>
          </a:prstGeom>
          <a:solidFill>
            <a:srgbClr val="C02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411480" y="5779008"/>
            <a:ext cx="12801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Step 8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874519" y="5779008"/>
            <a:ext cx="53035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E1E1E"/>
                </a:solidFill>
              </a:rPr>
              <a:t>Replace Motherboard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7360920" y="5779008"/>
            <a:ext cx="8229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1E1E1E"/>
                </a:solidFill>
              </a:rPr>
              <a:t>$280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8458200" y="5779008"/>
            <a:ext cx="914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1E1E1E"/>
                </a:solidFill>
              </a:rPr>
              <a:t>120 min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9464040" y="5779008"/>
            <a:ext cx="2286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06060"/>
                </a:solidFill>
              </a:rPr>
              <a:t>Absolute last resort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3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280160"/>
          </a:xfrm>
          <a:prstGeom prst="rect">
            <a:avLst/>
          </a:prstGeom>
          <a:solidFill>
            <a:srgbClr val="0F28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</a:rPr>
              <a:t>Dynamic Replanning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7315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00B0F0"/>
                </a:solidFill>
              </a:rPr>
              <a:t>AO* instantly adapts when a repair step fails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80160"/>
            <a:ext cx="12188952" cy="54864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583680"/>
            <a:ext cx="12188952" cy="274320"/>
          </a:xfrm>
          <a:prstGeom prst="rect">
            <a:avLst/>
          </a:prstGeom>
          <a:solidFill>
            <a:srgbClr val="0F28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" y="6601968"/>
            <a:ext cx="10972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00B0F0"/>
                </a:solidFill>
              </a:rPr>
              <a:t>AI Device Troubleshooting Assistant  |  AO* on AND-OR Graphs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1463040"/>
            <a:ext cx="2743200" cy="914400"/>
          </a:xfrm>
          <a:prstGeom prst="rect">
            <a:avLst/>
          </a:prstGeom>
          <a:solidFill>
            <a:srgbClr val="0F28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1554480"/>
            <a:ext cx="25603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</a:rPr>
              <a:t>Initial Plan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2377440"/>
            <a:ext cx="2743200" cy="25603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2468880"/>
            <a:ext cx="256032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>
                <a:solidFill>
                  <a:srgbClr val="1E1E1E"/>
                </a:solidFill>
              </a:rPr>
              <a:t>AO* computes f values bottom-up</a:t>
            </a:r>
          </a:p>
          <a:p>
            <a:pPr algn="l"/>
            <a:r>
              <a:rPr sz="1400">
                <a:solidFill>
                  <a:srgbClr val="1E1E1E"/>
                </a:solidFill>
              </a:rPr>
              <a:t>Recommends: Boot in Safe Mode ($0)</a:t>
            </a:r>
          </a:p>
          <a:p>
            <a:pPr algn="l"/>
            <a:r>
              <a:rPr sz="1400">
                <a:solidFill>
                  <a:srgbClr val="1E1E1E"/>
                </a:solidFill>
              </a:rPr>
              <a:t>All free software fixes tried first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108960" y="2560320"/>
            <a:ext cx="1828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0F2850"/>
                </a:solidFill>
              </a:rPr>
              <a:t>-&gt;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291840" y="1463040"/>
            <a:ext cx="2743200" cy="914400"/>
          </a:xfrm>
          <a:prstGeom prst="rect">
            <a:avLst/>
          </a:prstGeom>
          <a:solidFill>
            <a:srgbClr val="C02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383280" y="1554480"/>
            <a:ext cx="25603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</a:rPr>
              <a:t>Step Fails (N)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291840" y="2377440"/>
            <a:ext cx="2743200" cy="25603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383280" y="2468880"/>
            <a:ext cx="256032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>
                <a:solidFill>
                  <a:srgbClr val="1E1E1E"/>
                </a:solidFill>
              </a:rPr>
              <a:t>User marks step as FAILED</a:t>
            </a:r>
          </a:p>
          <a:p>
            <a:pPr algn="l"/>
            <a:r>
              <a:rPr sz="1400">
                <a:solidFill>
                  <a:srgbClr val="1E1E1E"/>
                </a:solidFill>
              </a:rPr>
              <a:t>f(leaf) = infinity</a:t>
            </a:r>
          </a:p>
          <a:p>
            <a:pPr algn="l"/>
            <a:r>
              <a:rPr sz="1400">
                <a:solidFill>
                  <a:srgbClr val="1E1E1E"/>
                </a:solidFill>
              </a:rPr>
              <a:t>Propagate up in O(depth) steps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035040" y="2560320"/>
            <a:ext cx="1828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0F2850"/>
                </a:solidFill>
              </a:rPr>
              <a:t>-&gt;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217920" y="1463040"/>
            <a:ext cx="2743200" cy="914400"/>
          </a:xfrm>
          <a:prstGeom prst="rect">
            <a:avLst/>
          </a:prstGeom>
          <a:solidFill>
            <a:srgbClr val="1A5C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09360" y="1554480"/>
            <a:ext cx="25603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</a:rPr>
              <a:t>OR Node Updates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217920" y="2377440"/>
            <a:ext cx="2743200" cy="25603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309360" y="2468880"/>
            <a:ext cx="256032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>
                <a:solidFill>
                  <a:srgbClr val="1E1E1E"/>
                </a:solidFill>
              </a:rPr>
              <a:t>OR parent skips failed child</a:t>
            </a:r>
          </a:p>
          <a:p>
            <a:pPr algn="l"/>
            <a:r>
              <a:rPr sz="1400">
                <a:solidFill>
                  <a:srgbClr val="1E1E1E"/>
                </a:solidFill>
              </a:rPr>
              <a:t>Selects next-best child</a:t>
            </a:r>
          </a:p>
          <a:p>
            <a:pPr algn="l"/>
            <a:r>
              <a:rPr sz="1400">
                <a:solidFill>
                  <a:srgbClr val="1E1E1E"/>
                </a:solidFill>
              </a:rPr>
              <a:t>f(parent) automatically updated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961120" y="2560320"/>
            <a:ext cx="1828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0F2850"/>
                </a:solidFill>
              </a:rPr>
              <a:t>-&gt;</a:t>
            </a:r>
          </a:p>
        </p:txBody>
      </p:sp>
      <p:sp>
        <p:nvSpPr>
          <p:cNvPr id="23" name="Rectangle 22"/>
          <p:cNvSpPr/>
          <p:nvPr/>
        </p:nvSpPr>
        <p:spPr>
          <a:xfrm>
            <a:off x="9144000" y="1463040"/>
            <a:ext cx="2743200" cy="914400"/>
          </a:xfrm>
          <a:prstGeom prst="rect">
            <a:avLst/>
          </a:prstGeom>
          <a:solidFill>
            <a:srgbClr val="007A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235440" y="1554480"/>
            <a:ext cx="25603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</a:rPr>
              <a:t>New Plan Ready</a:t>
            </a:r>
          </a:p>
        </p:txBody>
      </p:sp>
      <p:sp>
        <p:nvSpPr>
          <p:cNvPr id="25" name="Rectangle 24"/>
          <p:cNvSpPr/>
          <p:nvPr/>
        </p:nvSpPr>
        <p:spPr>
          <a:xfrm>
            <a:off x="9144000" y="2377440"/>
            <a:ext cx="2743200" cy="25603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235440" y="2468880"/>
            <a:ext cx="256032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>
                <a:solidFill>
                  <a:srgbClr val="1E1E1E"/>
                </a:solidFill>
              </a:rPr>
              <a:t>Re-extract path from root</a:t>
            </a:r>
          </a:p>
          <a:p>
            <a:pPr algn="l"/>
            <a:r>
              <a:rPr sz="1400">
                <a:solidFill>
                  <a:srgbClr val="1E1E1E"/>
                </a:solidFill>
              </a:rPr>
              <a:t>Next cheapest fix shown</a:t>
            </a:r>
          </a:p>
          <a:p>
            <a:pPr algn="l"/>
            <a:r>
              <a:rPr sz="1400">
                <a:solidFill>
                  <a:srgbClr val="1E1E1E"/>
                </a:solidFill>
              </a:rPr>
              <a:t>No full restart needed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65760" y="5120640"/>
            <a:ext cx="11430000" cy="1280160"/>
          </a:xfrm>
          <a:prstGeom prst="rect">
            <a:avLst/>
          </a:prstGeom>
          <a:solidFill>
            <a:srgbClr val="0F28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0080" y="5193792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00B0F0"/>
                </a:solidFill>
              </a:rPr>
              <a:t>AND Node Behaviour on Failure: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0080" y="557784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</a:rPr>
              <a:t>If ANY child of an AND node fails -&gt; entire AND node is marked FAILED.
Its OR parent then looks for the next alternative sub-tree. This correctly models mandatory sequential steps.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3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280160"/>
          </a:xfrm>
          <a:prstGeom prst="rect">
            <a:avLst/>
          </a:prstGeom>
          <a:solidFill>
            <a:srgbClr val="0F28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</a:rPr>
              <a:t>Results: AO* vs Random Fixing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7315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00B0F0"/>
                </a:solidFill>
              </a:rPr>
              <a:t>Monte Carlo simulation — 2,000 trials per device problem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80160"/>
            <a:ext cx="12188952" cy="54864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583680"/>
            <a:ext cx="12188952" cy="274320"/>
          </a:xfrm>
          <a:prstGeom prst="rect">
            <a:avLst/>
          </a:prstGeom>
          <a:solidFill>
            <a:srgbClr val="0F28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" y="6601968"/>
            <a:ext cx="10972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00B0F0"/>
                </a:solidFill>
              </a:rPr>
              <a:t>AI Device Troubleshooting Assistant  |  AO* on AND-OR Graphs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1463040"/>
            <a:ext cx="11430000" cy="502920"/>
          </a:xfrm>
          <a:prstGeom prst="rect">
            <a:avLst/>
          </a:prstGeom>
          <a:solidFill>
            <a:srgbClr val="0F28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1508760"/>
            <a:ext cx="3200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</a:rPr>
              <a:t>Device Problem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749039" y="1508760"/>
            <a:ext cx="1371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</a:rPr>
              <a:t>AO* Cost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212080" y="1508760"/>
            <a:ext cx="1371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</a:rPr>
              <a:t>Random Avg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75120" y="1508760"/>
            <a:ext cx="1645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</a:rPr>
              <a:t>Random Worst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12480" y="1508760"/>
            <a:ext cx="1645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</a:rPr>
              <a:t>Cost Saved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65760" y="2011680"/>
            <a:ext cx="11430000" cy="621792"/>
          </a:xfrm>
          <a:prstGeom prst="rect">
            <a:avLst/>
          </a:prstGeom>
          <a:solidFill>
            <a:srgbClr val="F0F3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02920" y="2103120"/>
            <a:ext cx="3108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E1E1E"/>
                </a:solidFill>
              </a:rPr>
              <a:t>Laptop Won't Start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749039" y="2103120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007A3D"/>
                </a:solidFill>
              </a:rPr>
              <a:t>$0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212080" y="2103120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1E1E1E"/>
                </a:solidFill>
              </a:rPr>
              <a:t>$272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675120" y="2103120"/>
            <a:ext cx="1645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C02020"/>
                </a:solidFill>
              </a:rPr>
              <a:t>$535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12480" y="2103120"/>
            <a:ext cx="1645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007A3D"/>
                </a:solidFill>
              </a:rPr>
              <a:t>~100%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65760" y="2670048"/>
            <a:ext cx="11430000" cy="62179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2920" y="2761488"/>
            <a:ext cx="3108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E1E1E"/>
                </a:solidFill>
              </a:rPr>
              <a:t>WiFi Not Working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749039" y="2761488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007A3D"/>
                </a:solidFill>
              </a:rPr>
              <a:t>$0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212080" y="2761488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1E1E1E"/>
                </a:solidFill>
              </a:rPr>
              <a:t>$18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675120" y="2761488"/>
            <a:ext cx="1645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C02020"/>
                </a:solidFill>
              </a:rPr>
              <a:t>$65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412480" y="2761488"/>
            <a:ext cx="1645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007A3D"/>
                </a:solidFill>
              </a:rPr>
              <a:t>~100%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3328416"/>
            <a:ext cx="11430000" cy="621792"/>
          </a:xfrm>
          <a:prstGeom prst="rect">
            <a:avLst/>
          </a:prstGeom>
          <a:solidFill>
            <a:srgbClr val="F0F3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02920" y="3419856"/>
            <a:ext cx="3108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E1E1E"/>
                </a:solidFill>
              </a:rPr>
              <a:t>Phone Overheating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749039" y="3419856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007A3D"/>
                </a:solidFill>
              </a:rP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212080" y="3419856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1E1E1E"/>
                </a:solidFill>
              </a:rPr>
              <a:t>$42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675120" y="3419856"/>
            <a:ext cx="1645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C02020"/>
                </a:solidFill>
              </a:rPr>
              <a:t>$160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412480" y="3419856"/>
            <a:ext cx="1645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007A3D"/>
                </a:solidFill>
              </a:rPr>
              <a:t>~100%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65760" y="3986784"/>
            <a:ext cx="11430000" cy="62179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02920" y="4078224"/>
            <a:ext cx="3108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E1E1E"/>
                </a:solidFill>
              </a:rPr>
              <a:t>Printer Not Printing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749039" y="4078224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007A3D"/>
                </a:solidFill>
              </a:rPr>
              <a:t>$0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212080" y="4078224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1E1E1E"/>
                </a:solidFill>
              </a:rPr>
              <a:t>$38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675120" y="4078224"/>
            <a:ext cx="1645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C02020"/>
                </a:solidFill>
              </a:rPr>
              <a:t>$205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412480" y="4078224"/>
            <a:ext cx="1645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007A3D"/>
                </a:solidFill>
              </a:rPr>
              <a:t>~100%</a:t>
            </a:r>
          </a:p>
        </p:txBody>
      </p:sp>
      <p:sp>
        <p:nvSpPr>
          <p:cNvPr id="38" name="Rectangle 37"/>
          <p:cNvSpPr/>
          <p:nvPr/>
        </p:nvSpPr>
        <p:spPr>
          <a:xfrm>
            <a:off x="365760" y="4709160"/>
            <a:ext cx="11430000" cy="1508760"/>
          </a:xfrm>
          <a:prstGeom prst="rect">
            <a:avLst/>
          </a:prstGeom>
          <a:solidFill>
            <a:srgbClr val="1A5C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40080" y="4800600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FC000"/>
                </a:solidFill>
              </a:rPr>
              <a:t>Key Insight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40080" y="521208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</a:rPr>
              <a:t>AO* always starts with the cheapest available fix (often free). Random users may attempt a $280 motherboard replacement before trying a free static discharge reset. AO* eliminates this by construction — the minimum-cost path is guaranteed optimal by the admissible heuristic.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3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280160"/>
          </a:xfrm>
          <a:prstGeom prst="rect">
            <a:avLst/>
          </a:prstGeom>
          <a:solidFill>
            <a:srgbClr val="0F28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</a:rPr>
              <a:t>System 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7315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00B0F0"/>
                </a:solidFill>
              </a:rPr>
              <a:t>Modular Python design — knowledge base is independent of the algorithm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80160"/>
            <a:ext cx="12188952" cy="54864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583680"/>
            <a:ext cx="12188952" cy="274320"/>
          </a:xfrm>
          <a:prstGeom prst="rect">
            <a:avLst/>
          </a:prstGeom>
          <a:solidFill>
            <a:srgbClr val="0F28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" y="6601968"/>
            <a:ext cx="10972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00B0F0"/>
                </a:solidFill>
              </a:rPr>
              <a:t>AI Device Troubleshooting Assistant  |  AO* on AND-OR Graphs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1554480"/>
            <a:ext cx="3474720" cy="1143000"/>
          </a:xfrm>
          <a:prstGeom prst="rect">
            <a:avLst/>
          </a:prstGeom>
          <a:solidFill>
            <a:srgbClr val="0F28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1627632"/>
            <a:ext cx="3200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and_or_graph.py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2057400"/>
            <a:ext cx="3200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Data Structures
Node, NodeType, Status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65760" y="2926080"/>
            <a:ext cx="3474720" cy="1143000"/>
          </a:xfrm>
          <a:prstGeom prst="rect">
            <a:avLst/>
          </a:prstGeom>
          <a:solidFill>
            <a:srgbClr val="1A5C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2999232"/>
            <a:ext cx="3200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ao_star.py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3429000"/>
            <a:ext cx="3200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AO* Engine
Cost propagation + replanning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206240" y="1554480"/>
            <a:ext cx="3474720" cy="1143000"/>
          </a:xfrm>
          <a:prstGeom prst="rect">
            <a:avLst/>
          </a:prstGeom>
          <a:solidFill>
            <a:srgbClr val="007A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343400" y="1627632"/>
            <a:ext cx="3200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knowledge_base.py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43400" y="2057400"/>
            <a:ext cx="3200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Domain Knowledge
4 device problem trees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206240" y="2926080"/>
            <a:ext cx="3474720" cy="1143000"/>
          </a:xfrm>
          <a:prstGeom prst="rect">
            <a:avLst/>
          </a:prstGeom>
          <a:solidFill>
            <a:srgbClr val="7B2D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343400" y="2999232"/>
            <a:ext cx="3200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troubleshooter.py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343400" y="3429000"/>
            <a:ext cx="3200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CLI Session
Interactive Y/N + summary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046720" y="1554480"/>
            <a:ext cx="3474720" cy="1143000"/>
          </a:xfrm>
          <a:prstGeom prst="rect">
            <a:avLst/>
          </a:prstGeom>
          <a:solidFill>
            <a:srgbClr val="C06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183880" y="1627632"/>
            <a:ext cx="3200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comparison.py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183880" y="2057400"/>
            <a:ext cx="3200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Monte Carlo
AO* vs random simulation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046720" y="2926080"/>
            <a:ext cx="3474720" cy="1143000"/>
          </a:xfrm>
          <a:prstGeom prst="rect">
            <a:avLst/>
          </a:prstGeom>
          <a:solidFill>
            <a:srgbClr val="6060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183880" y="2999232"/>
            <a:ext cx="3200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visualizer.py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183880" y="3429000"/>
            <a:ext cx="3200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Rendering
ASCII tree + solution table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206240" y="4297680"/>
            <a:ext cx="3474720" cy="1143000"/>
          </a:xfrm>
          <a:prstGeom prst="rect">
            <a:avLst/>
          </a:prstGeom>
          <a:solidFill>
            <a:srgbClr val="0F28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343400" y="4370832"/>
            <a:ext cx="3200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main.py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43400" y="4800600"/>
            <a:ext cx="3200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Menu Controller
Top-level flow control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65760" y="5394960"/>
            <a:ext cx="11430000" cy="10058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48640" y="5458968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F2850"/>
                </a:solidFill>
              </a:rPr>
              <a:t>run.py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011680" y="5458968"/>
            <a:ext cx="96012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E1E1E"/>
                </a:solidFill>
              </a:rPr>
              <a:t>Entry point:  python run.py
Presentation PDF:  python presentation/generate_pdf.py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3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280160"/>
          </a:xfrm>
          <a:prstGeom prst="rect">
            <a:avLst/>
          </a:prstGeom>
          <a:solidFill>
            <a:srgbClr val="0F28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</a:rPr>
              <a:t>Conclusion &amp; Future Work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7315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00B0F0"/>
                </a:solidFill>
              </a:rPr>
              <a:t>AO* delivers optimal, adaptive device troubleshooting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80160"/>
            <a:ext cx="12188952" cy="54864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583680"/>
            <a:ext cx="12188952" cy="274320"/>
          </a:xfrm>
          <a:prstGeom prst="rect">
            <a:avLst/>
          </a:prstGeom>
          <a:solidFill>
            <a:srgbClr val="0F28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" y="6601968"/>
            <a:ext cx="10972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00B0F0"/>
                </a:solidFill>
              </a:rPr>
              <a:t>AI Device Troubleshooting Assistant  |  AO* on AND-OR Graphs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1463040"/>
            <a:ext cx="5486400" cy="43891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1554480"/>
            <a:ext cx="512064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0F2850"/>
                </a:solidFill>
              </a:rPr>
              <a:t>Achievements</a:t>
            </a:r>
          </a:p>
          <a:p>
            <a:pPr algn="l"/>
            <a:r>
              <a:rPr sz="1600">
                <a:solidFill>
                  <a:srgbClr val="1E1E1E"/>
                </a:solidFill>
              </a:rPr>
              <a:t>AND-OR graph knowledge base</a:t>
            </a:r>
          </a:p>
          <a:p>
            <a:pPr algn="l"/>
            <a:r>
              <a:rPr sz="1600">
                <a:solidFill>
                  <a:srgbClr val="1E1E1E"/>
                </a:solidFill>
              </a:rPr>
              <a:t>  covering 4 device categories</a:t>
            </a:r>
          </a:p>
          <a:p>
            <a:pPr algn="l"/>
            <a:r>
              <a:rPr sz="1600">
                <a:solidFill>
                  <a:srgbClr val="1E1E1E"/>
                </a:solidFill>
              </a:rPr>
              <a:t/>
            </a:r>
          </a:p>
          <a:p>
            <a:pPr algn="l"/>
            <a:r>
              <a:rPr sz="1600">
                <a:solidFill>
                  <a:srgbClr val="1E1E1E"/>
                </a:solidFill>
              </a:rPr>
              <a:t>AO* with dynamic replanning</a:t>
            </a:r>
          </a:p>
          <a:p>
            <a:pPr algn="l"/>
            <a:r>
              <a:rPr sz="1600">
                <a:solidFill>
                  <a:srgbClr val="1E1E1E"/>
                </a:solidFill>
              </a:rPr>
              <a:t>  O(depth) per failed step</a:t>
            </a:r>
          </a:p>
          <a:p>
            <a:pPr algn="l"/>
            <a:r>
              <a:rPr sz="1600">
                <a:solidFill>
                  <a:srgbClr val="1E1E1E"/>
                </a:solidFill>
              </a:rPr>
              <a:t/>
            </a:r>
          </a:p>
          <a:p>
            <a:pPr algn="l"/>
            <a:r>
              <a:rPr sz="1600">
                <a:solidFill>
                  <a:srgbClr val="1E1E1E"/>
                </a:solidFill>
              </a:rPr>
              <a:t>Interactive CLI session</a:t>
            </a:r>
          </a:p>
          <a:p>
            <a:pPr algn="l"/>
            <a:r>
              <a:rPr sz="1600">
                <a:solidFill>
                  <a:srgbClr val="1E1E1E"/>
                </a:solidFill>
              </a:rPr>
              <a:t>  Y / N / Q per step + summary</a:t>
            </a:r>
          </a:p>
          <a:p>
            <a:pPr algn="l"/>
            <a:r>
              <a:rPr sz="1600">
                <a:solidFill>
                  <a:srgbClr val="1E1E1E"/>
                </a:solidFill>
              </a:rPr>
              <a:t/>
            </a:r>
          </a:p>
          <a:p>
            <a:pPr algn="l"/>
            <a:r>
              <a:rPr sz="1600">
                <a:solidFill>
                  <a:srgbClr val="1E1E1E"/>
                </a:solidFill>
              </a:rPr>
              <a:t>Monte Carlo comparison</a:t>
            </a:r>
          </a:p>
          <a:p>
            <a:pPr algn="l"/>
            <a:r>
              <a:rPr sz="1600">
                <a:solidFill>
                  <a:srgbClr val="1E1E1E"/>
                </a:solidFill>
              </a:rPr>
              <a:t>  ~100% cost savings vs random</a:t>
            </a:r>
          </a:p>
          <a:p>
            <a:pPr algn="l"/>
            <a:r>
              <a:rPr sz="1600">
                <a:solidFill>
                  <a:srgbClr val="1E1E1E"/>
                </a:solidFill>
              </a:rPr>
              <a:t/>
            </a:r>
          </a:p>
          <a:p>
            <a:pPr algn="l"/>
            <a:r>
              <a:rPr sz="1600">
                <a:solidFill>
                  <a:srgbClr val="1E1E1E"/>
                </a:solidFill>
              </a:rPr>
              <a:t>100 viva Q&amp;A + PDF script</a:t>
            </a:r>
          </a:p>
        </p:txBody>
      </p:sp>
      <p:sp>
        <p:nvSpPr>
          <p:cNvPr id="10" name="Rectangle 9"/>
          <p:cNvSpPr/>
          <p:nvPr/>
        </p:nvSpPr>
        <p:spPr>
          <a:xfrm>
            <a:off x="6309360" y="1463040"/>
            <a:ext cx="5486400" cy="4389120"/>
          </a:xfrm>
          <a:prstGeom prst="rect">
            <a:avLst/>
          </a:prstGeom>
          <a:solidFill>
            <a:srgbClr val="0F28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92240" y="1554480"/>
            <a:ext cx="512064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00B0F0"/>
                </a:solidFill>
              </a:rPr>
              <a:t>Future Work</a:t>
            </a:r>
          </a:p>
          <a:p>
            <a:pPr algn="l"/>
            <a:r>
              <a:rPr sz="1500">
                <a:solidFill>
                  <a:srgbClr val="FFFFFF"/>
                </a:solidFill>
              </a:rPr>
              <a:t>Probabilistic AO* (PAO*)</a:t>
            </a:r>
          </a:p>
          <a:p>
            <a:pPr algn="l"/>
            <a:r>
              <a:rPr sz="1500">
                <a:solidFill>
                  <a:srgbClr val="FFFFFF"/>
                </a:solidFill>
              </a:rPr>
              <a:t>  Add success probability per fix</a:t>
            </a:r>
          </a:p>
          <a:p>
            <a:pPr algn="l"/>
            <a:r>
              <a:rPr sz="1500">
                <a:solidFill>
                  <a:srgbClr val="FFFFFF"/>
                </a:solidFill>
              </a:rPr>
              <a:t>  Minimise expected cost</a:t>
            </a:r>
          </a:p>
          <a:p>
            <a:pPr algn="l"/>
            <a:r>
              <a:rPr sz="1500">
                <a:solidFill>
                  <a:srgbClr val="FFFFFF"/>
                </a:solidFill>
              </a:rPr>
              <a:t/>
            </a:r>
          </a:p>
          <a:p>
            <a:pPr algn="l"/>
            <a:r>
              <a:rPr sz="1500">
                <a:solidFill>
                  <a:srgbClr val="FFFFFF"/>
                </a:solidFill>
              </a:rPr>
              <a:t>Web / Mobile Frontend</a:t>
            </a:r>
          </a:p>
          <a:p>
            <a:pPr algn="l"/>
            <a:r>
              <a:rPr sz="1500">
                <a:solidFill>
                  <a:srgbClr val="FFFFFF"/>
                </a:solidFill>
              </a:rPr>
              <a:t>  Replace CLI with React / Flutter</a:t>
            </a:r>
          </a:p>
          <a:p>
            <a:pPr algn="l"/>
            <a:r>
              <a:rPr sz="1500">
                <a:solidFill>
                  <a:srgbClr val="FFFFFF"/>
                </a:solidFill>
              </a:rPr>
              <a:t/>
            </a:r>
          </a:p>
          <a:p>
            <a:pPr algn="l"/>
            <a:r>
              <a:rPr sz="1500">
                <a:solidFill>
                  <a:srgbClr val="FFFFFF"/>
                </a:solidFill>
              </a:rPr>
              <a:t>NLP Symptom Input</a:t>
            </a:r>
          </a:p>
          <a:p>
            <a:pPr algn="l"/>
            <a:r>
              <a:rPr sz="1500">
                <a:solidFill>
                  <a:srgbClr val="FFFFFF"/>
                </a:solidFill>
              </a:rPr>
              <a:t>  Natural language -&gt; graph node</a:t>
            </a:r>
          </a:p>
          <a:p>
            <a:pPr algn="l"/>
            <a:r>
              <a:rPr sz="1500">
                <a:solidFill>
                  <a:srgbClr val="FFFFFF"/>
                </a:solidFill>
              </a:rPr>
              <a:t/>
            </a:r>
          </a:p>
          <a:p>
            <a:pPr algn="l"/>
            <a:r>
              <a:rPr sz="1500">
                <a:solidFill>
                  <a:srgbClr val="FFFFFF"/>
                </a:solidFill>
              </a:rPr>
              <a:t>Learned Heuristics</a:t>
            </a:r>
          </a:p>
          <a:p>
            <a:pPr algn="l"/>
            <a:r>
              <a:rPr sz="1500">
                <a:solidFill>
                  <a:srgbClr val="FFFFFF"/>
                </a:solidFill>
              </a:rPr>
              <a:t>  Update h(n) from session logs</a:t>
            </a:r>
          </a:p>
          <a:p>
            <a:pPr algn="l"/>
            <a:r>
              <a:rPr sz="1500">
                <a:solidFill>
                  <a:srgbClr val="FFFFFF"/>
                </a:solidFill>
              </a:rPr>
              <a:t/>
            </a:r>
          </a:p>
          <a:p>
            <a:pPr algn="l"/>
            <a:r>
              <a:rPr sz="1500">
                <a:solidFill>
                  <a:srgbClr val="FFFFFF"/>
                </a:solidFill>
              </a:rPr>
              <a:t>Expanded Knowledge Base</a:t>
            </a:r>
          </a:p>
          <a:p>
            <a:pPr algn="l"/>
            <a:r>
              <a:rPr sz="1500">
                <a:solidFill>
                  <a:srgbClr val="FFFFFF"/>
                </a:solidFill>
              </a:rPr>
              <a:t>  20+ device categories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28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486400"/>
            <a:ext cx="12188952" cy="109728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0" y="1371600"/>
            <a:ext cx="12188952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000" b="1" i="0">
                <a:solidFill>
                  <a:srgbClr val="FFFFFF"/>
                </a:solidFill>
              </a:rPr>
              <a:t>Thank You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0" y="2834640"/>
            <a:ext cx="12188952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0">
                <a:solidFill>
                  <a:srgbClr val="00B0F0"/>
                </a:solidFill>
              </a:rPr>
              <a:t>We welcome your questions.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0" y="3749039"/>
            <a:ext cx="4873752" cy="54864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0" y="4023360"/>
            <a:ext cx="12188952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CCDDFF"/>
                </a:solidFill>
              </a:rPr>
              <a:t>github.com/gurtejlamba/AND-OR-diagnose
python run.py  -&gt;  try it live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