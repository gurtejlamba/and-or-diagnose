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097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274320"/>
            <a:ext cx="2560320" cy="2560320"/>
          </a:xfrm>
          <a:prstGeom prst="ellipse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AI Device Troubleshooting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0B0F0"/>
                </a:solidFill>
              </a:rPr>
              <a:t>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CDDFF"/>
                </a:solidFill>
              </a:rPr>
              <a:t>Using AO* Algorithm on AND-OR Fault Graphs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20440"/>
            <a:ext cx="4114800" cy="457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06060"/>
                </a:solidFill>
              </a:rPr>
              <a:t>AISC Project Presentation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06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Member 1  &amp;  Member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0F0"/>
                </a:solidFill>
              </a:rPr>
              <a:t>Why random fixing is expensive and unreliable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0F0"/>
                </a:solidFill>
              </a:rPr>
              <a:t>AI Device Troubleshooting Assistant  |  AO* on AND-OR Graphs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3035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F2850"/>
                </a:solidFill>
              </a:rPr>
              <a:t>The Diagnosis Challenge</a:t>
            </a:r>
          </a:p>
          <a:p>
            <a:pPr algn="l"/>
            <a:r>
              <a:rPr sz="1700">
                <a:solidFill>
                  <a:srgbClr val="1E1E1E"/>
                </a:solidFill>
              </a:rPr>
              <a:t>One symptom = many possible causes</a:t>
            </a:r>
          </a:p>
          <a:p>
            <a:pPr algn="l"/>
            <a:r>
              <a:rPr sz="1700">
                <a:solidFill>
                  <a:srgbClr val="1E1E1E"/>
                </a:solidFill>
              </a:rPr>
              <a:t/>
            </a:r>
          </a:p>
          <a:p>
            <a:pPr algn="l"/>
            <a:r>
              <a:rPr sz="1700">
                <a:solidFill>
                  <a:srgbClr val="1E1E1E"/>
                </a:solidFill>
              </a:rPr>
              <a:t>Laptop won't start could be:</a:t>
            </a:r>
          </a:p>
          <a:p>
            <a:pPr algn="l"/>
            <a:r>
              <a:rPr sz="1700">
                <a:solidFill>
                  <a:srgbClr val="1E1E1E"/>
                </a:solidFill>
              </a:rPr>
              <a:t>   - Corrupted OS  ($0 to fix)</a:t>
            </a:r>
          </a:p>
          <a:p>
            <a:pPr algn="l"/>
            <a:r>
              <a:rPr sz="1700">
                <a:solidFill>
                  <a:srgbClr val="1E1E1E"/>
                </a:solidFill>
              </a:rPr>
              <a:t>   - Dead battery   ($50 to fix)</a:t>
            </a:r>
          </a:p>
          <a:p>
            <a:pPr algn="l"/>
            <a:r>
              <a:rPr sz="1700">
                <a:solidFill>
                  <a:srgbClr val="1E1E1E"/>
                </a:solidFill>
              </a:rPr>
              <a:t>   - Cracked screen ($120 to fix)</a:t>
            </a:r>
          </a:p>
          <a:p>
            <a:pPr algn="l"/>
            <a:r>
              <a:rPr sz="1700">
                <a:solidFill>
                  <a:srgbClr val="1E1E1E"/>
                </a:solidFill>
              </a:rPr>
              <a:t>   - Failed board   ($280 to fix)</a:t>
            </a:r>
          </a:p>
          <a:p>
            <a:pPr algn="l"/>
            <a:r>
              <a:rPr sz="1700">
                <a:solidFill>
                  <a:srgbClr val="1E1E1E"/>
                </a:solidFill>
              </a:rPr>
              <a:t/>
            </a:r>
          </a:p>
          <a:p>
            <a:pPr algn="l"/>
            <a:r>
              <a:rPr sz="1700">
                <a:solidFill>
                  <a:srgbClr val="1E1E1E"/>
                </a:solidFill>
              </a:rPr>
              <a:t>Fixes are also inter-dependent:</a:t>
            </a:r>
          </a:p>
          <a:p>
            <a:pPr algn="l"/>
            <a:r>
              <a:rPr sz="1700">
                <a:solidFill>
                  <a:srgbClr val="1E1E1E"/>
                </a:solidFill>
              </a:rPr>
              <a:t>   - Some are alternatives (OR)</a:t>
            </a:r>
          </a:p>
          <a:p>
            <a:pPr algn="l"/>
            <a:r>
              <a:rPr sz="1700">
                <a:solidFill>
                  <a:srgbClr val="1E1E1E"/>
                </a:solidFill>
              </a:rPr>
              <a:t>   - Some are sequential steps (AND)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4864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C02020"/>
                </a:solidFill>
              </a:rPr>
              <a:t>The Cost of Random Fixing</a:t>
            </a:r>
          </a:p>
          <a:p>
            <a:pPr algn="l"/>
            <a:r>
              <a:rPr sz="1700">
                <a:solidFill>
                  <a:srgbClr val="1E1E1E"/>
                </a:solidFill>
              </a:rPr>
              <a:t>Users try fixes in random order</a:t>
            </a:r>
          </a:p>
          <a:p>
            <a:pPr algn="l"/>
            <a:r>
              <a:rPr sz="1700">
                <a:solidFill>
                  <a:srgbClr val="1E1E1E"/>
                </a:solidFill>
              </a:rPr>
              <a:t/>
            </a:r>
          </a:p>
          <a:p>
            <a:pPr algn="l"/>
            <a:r>
              <a:rPr sz="1700">
                <a:solidFill>
                  <a:srgbClr val="1E1E1E"/>
                </a:solidFill>
              </a:rPr>
              <a:t>Random avg cost:   $272</a:t>
            </a:r>
          </a:p>
          <a:p>
            <a:pPr algn="l"/>
            <a:r>
              <a:rPr sz="1700">
                <a:solidFill>
                  <a:srgbClr val="1E1E1E"/>
                </a:solidFill>
              </a:rPr>
              <a:t>Random worst case: $535</a:t>
            </a:r>
          </a:p>
          <a:p>
            <a:pPr algn="l"/>
            <a:r>
              <a:rPr sz="1700">
                <a:solidFill>
                  <a:srgbClr val="1E1E1E"/>
                </a:solidFill>
              </a:rPr>
              <a:t>Random avg time:   223 min</a:t>
            </a:r>
          </a:p>
          <a:p>
            <a:pPr algn="l"/>
            <a:r>
              <a:rPr sz="1700">
                <a:solidFill>
                  <a:srgbClr val="1E1E1E"/>
                </a:solidFill>
              </a:rPr>
              <a:t/>
            </a:r>
          </a:p>
          <a:p>
            <a:pPr algn="l"/>
            <a:r>
              <a:rPr sz="1700">
                <a:solidFill>
                  <a:srgbClr val="1E1E1E"/>
                </a:solidFill>
              </a:rPr>
              <a:t>AO* optimal cost:  $0</a:t>
            </a:r>
          </a:p>
          <a:p>
            <a:pPr algn="l"/>
            <a:r>
              <a:rPr sz="1700">
                <a:solidFill>
                  <a:srgbClr val="1E1E1E"/>
                </a:solidFill>
              </a:rPr>
              <a:t>AO* time:          10 min</a:t>
            </a:r>
          </a:p>
          <a:p>
            <a:pPr algn="l"/>
            <a:r>
              <a:rPr sz="1700">
                <a:solidFill>
                  <a:srgbClr val="1E1E1E"/>
                </a:solidFill>
              </a:rPr>
              <a:t/>
            </a:r>
          </a:p>
          <a:p>
            <a:pPr algn="l"/>
            <a:r>
              <a:rPr sz="1700">
                <a:solidFill>
                  <a:srgbClr val="1E1E1E"/>
                </a:solidFill>
              </a:rPr>
              <a:t>Savings:  ~100% cost</a:t>
            </a:r>
          </a:p>
          <a:p>
            <a:pPr algn="l"/>
            <a:r>
              <a:rPr sz="1700">
                <a:solidFill>
                  <a:srgbClr val="1E1E1E"/>
                </a:solidFill>
              </a:rPr>
              <a:t>           ~213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32918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F2850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AI Approach: AND-OR Graphs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0F0"/>
                </a:solidFill>
              </a:rPr>
              <a:t>Encoding device faults as a structured search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0F0"/>
                </a:solidFill>
              </a:rPr>
              <a:t>AI Device Troubleshooting Assistant  |  AO* on AND-OR Graphs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3566160" cy="2011680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OR Node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Problem solved when ANY ONE
child is resolved.
Example: 'Laptop Won't Start'
could be power OR software
OR display OR hardware.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3566160" cy="201168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AND Node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031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Problem solved only when ALL
children are resolved.
Example: 'Printer Connection'
needs cable reseated AND
driver reinstalled.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554480"/>
            <a:ext cx="3566160" cy="201168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LEAF Node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 concrete repair action
with a known cost and time.
Example: 'Replace Battery'
  Cost: $50
  Time: 30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49039"/>
            <a:ext cx="114300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94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850"/>
                </a:solidFill>
              </a:rPr>
              <a:t>Example Tree: Laptop Won't Start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60520"/>
            <a:ext cx="11430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[OR]  Laptop Won't Start
   [OR]  Software Issue   -&gt; Boot Safe Mode $0  |  Startup Repair $0  |  Reinstall OS $0
   [OR]  Power Issue      -&gt; Static Reset $0    |  Charger $15        |  Battery $50
   [OR]  Display Issue    -&gt; Ext. Monitor $0    |  Reseat Cable $0    |  Screen $120
   [OR]  Hardware Issue   -&gt; Reseat RAM $0      |  Replace SSD $70    |  Motherboard $280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AO*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0F0"/>
                </a:solidFill>
              </a:rPr>
              <a:t>Heuristic search that finds the minimum-cost solution subgraph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0F0"/>
                </a:solidFill>
              </a:rPr>
              <a:t>AI Device Troubleshooting Assistant  |  AO* on AND-OR Graphs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394960" cy="320040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0F0"/>
                </a:solidFill>
              </a:rPr>
              <a:t>Cost Propagation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FFFFF"/>
                </a:solidFill>
              </a:rPr>
              <a:t>LEAF node: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  f(n) = actual repair cost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OR node: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  f(n) = MIN over children c of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         [ edge_cost + f(c) ]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AND node: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  f(n) = SUM over all children c of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         [ edge_cost + f(c)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56692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2850"/>
                </a:solidFill>
              </a:rPr>
              <a:t>Algorithm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E1E1E"/>
                </a:solidFill>
              </a:rPr>
              <a:t>1.  Build the AND-OR graph (knowledge base)</a:t>
            </a:r>
          </a:p>
          <a:p>
            <a:pPr algn="l"/>
            <a:r>
              <a:rPr sz="1400">
                <a:solidFill>
                  <a:srgbClr val="1E1E1E"/>
                </a:solidFill>
              </a:rPr>
              <a:t>2.  Compute all f(n) values bottom-up</a:t>
            </a:r>
          </a:p>
          <a:p>
            <a:pPr algn="l"/>
            <a:r>
              <a:rPr sz="1400">
                <a:solidFill>
                  <a:srgbClr val="1E1E1E"/>
                </a:solidFill>
              </a:rPr>
              <a:t>     (leaves first, root last)</a:t>
            </a:r>
          </a:p>
          <a:p>
            <a:pPr algn="l"/>
            <a:r>
              <a:rPr sz="1400">
                <a:solidFill>
                  <a:srgbClr val="1E1E1E"/>
                </a:solidFill>
              </a:rPr>
              <a:t>3.  Extract solution path following</a:t>
            </a:r>
          </a:p>
          <a:p>
            <a:pPr algn="l"/>
            <a:r>
              <a:rPr sz="1400">
                <a:solidFill>
                  <a:srgbClr val="1E1E1E"/>
                </a:solidFill>
              </a:rPr>
              <a:t>     best_child at each OR node,</a:t>
            </a:r>
          </a:p>
          <a:p>
            <a:pPr algn="l"/>
            <a:r>
              <a:rPr sz="1400">
                <a:solidFill>
                  <a:srgbClr val="1E1E1E"/>
                </a:solidFill>
              </a:rPr>
              <a:t>     all children at each AND node</a:t>
            </a:r>
          </a:p>
          <a:p>
            <a:pPr algn="l"/>
            <a:r>
              <a:rPr sz="1400">
                <a:solidFill>
                  <a:srgbClr val="1E1E1E"/>
                </a:solidFill>
              </a:rPr>
              <a:t>4.  User attempts each step (Y / N)</a:t>
            </a:r>
          </a:p>
          <a:p>
            <a:pPr algn="l"/>
            <a:r>
              <a:rPr sz="1400">
                <a:solidFill>
                  <a:srgbClr val="1E1E1E"/>
                </a:solidFill>
              </a:rPr>
              <a:t>5.  On FAIL: mark node f = infinity,</a:t>
            </a:r>
          </a:p>
          <a:p>
            <a:pPr algn="l"/>
            <a:r>
              <a:rPr sz="1400">
                <a:solidFill>
                  <a:srgbClr val="1E1E1E"/>
                </a:solidFill>
              </a:rPr>
              <a:t>     propagate up in O(depth) time</a:t>
            </a:r>
          </a:p>
          <a:p>
            <a:pPr algn="l"/>
            <a:r>
              <a:rPr sz="1400">
                <a:solidFill>
                  <a:srgbClr val="1E1E1E"/>
                </a:solidFill>
              </a:rPr>
              <a:t>6.  Re-extract path -&gt; instant replan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846320"/>
            <a:ext cx="11430000" cy="1371600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91947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000"/>
                </a:solidFill>
              </a:rPr>
              <a:t>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035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Finds solution if one exists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91947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000"/>
                </a:solidFill>
              </a:rPr>
              <a:t>Optimal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53035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Minimum cost guaranteed (admissible 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91947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000"/>
                </a:solidFill>
              </a:rPr>
              <a:t>Replan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3035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O(depth) per failed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491947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000"/>
                </a:solidFill>
              </a:rPr>
              <a:t>Practical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53035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&lt; 1ms per operation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Live Example: Laptop Won't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0F0"/>
                </a:solidFill>
              </a:rPr>
              <a:t>AO* guides from free fixes to paid — never the other 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0F0"/>
                </a:solidFill>
              </a:rPr>
              <a:t>AI Device Troubleshooting Assistant  |  AO* on AND-OR Graphs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11430000" cy="41148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4447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Fix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44475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4447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14447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874519"/>
            <a:ext cx="11430000" cy="521207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874519"/>
            <a:ext cx="1371600" cy="521207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938527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1938527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Boot in Safe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1938527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1E"/>
                </a:solidFill>
              </a:rPr>
              <a:t>$0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938527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1E"/>
                </a:solidFill>
              </a:rPr>
              <a:t>10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1938527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AO* initial recommendation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423160"/>
            <a:ext cx="1143000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423160"/>
            <a:ext cx="1371600" cy="521207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48716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24871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Run Startup Repair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487168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1E"/>
                </a:solidFill>
              </a:rPr>
              <a:t>$0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48716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1E"/>
                </a:solidFill>
              </a:rPr>
              <a:t>30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24871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After Step 1 fails -&gt; replan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971800"/>
            <a:ext cx="11430000" cy="521207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971800"/>
            <a:ext cx="1371600" cy="521207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03580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30358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Reinstall 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3035808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1E"/>
                </a:solidFill>
              </a:rPr>
              <a:t>$0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303580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1E"/>
                </a:solidFill>
              </a:rPr>
              <a:t>90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30358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After Step 2 fails -&gt; replan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520439"/>
            <a:ext cx="1143000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3520439"/>
            <a:ext cx="1371600" cy="521207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3584447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74519" y="3584447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Static Discharge Reset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3584447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1E"/>
                </a:solidFill>
              </a:rPr>
              <a:t>$0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3584447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1E"/>
                </a:solidFill>
              </a:rPr>
              <a:t>3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64040" y="3584447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Software exhausted -&gt; move to Power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069079"/>
            <a:ext cx="11430000" cy="521207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069079"/>
            <a:ext cx="1371600" cy="521207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4133087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74519" y="4133087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Test / Replace Charger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4133087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1E"/>
                </a:solidFill>
              </a:rPr>
              <a:t>$15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4133087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1E"/>
                </a:solidFill>
              </a:rPr>
              <a:t>5 min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64040" y="4133087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After Step 4 fails -&gt; replan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617720"/>
            <a:ext cx="1143000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" y="4617720"/>
            <a:ext cx="1371600" cy="521207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468172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74519" y="46817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Replace Battery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60920" y="4681728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1E"/>
                </a:solidFill>
              </a:rPr>
              <a:t>$50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58200" y="468172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1E"/>
                </a:solidFill>
              </a:rPr>
              <a:t>30 min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64040" y="46817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After Step 5 fails -&gt; replan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166359"/>
            <a:ext cx="11430000" cy="521207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65760" y="5166359"/>
            <a:ext cx="1371600" cy="521207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523036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74519" y="52303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Reseat RAM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60920" y="5230368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1E"/>
                </a:solidFill>
              </a:rPr>
              <a:t>$0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58200" y="523036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1E"/>
                </a:solidFill>
              </a:rPr>
              <a:t>15 min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64040" y="52303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Power exhausted -&gt; Hardware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5715000"/>
            <a:ext cx="1143000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65760" y="5715000"/>
            <a:ext cx="1371600" cy="521207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577900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74519" y="57790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</a:rPr>
              <a:t>Replace Motherboard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60920" y="5779008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1E"/>
                </a:solidFill>
              </a:rPr>
              <a:t>$280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58200" y="577900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1E1E"/>
                </a:solidFill>
              </a:rPr>
              <a:t>120 min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64040" y="57790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</a:rPr>
              <a:t>Absolute last resort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Dynamic Replanning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0F0"/>
                </a:solidFill>
              </a:rPr>
              <a:t>AO* instantly adapts when a repair step fails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0F0"/>
                </a:solidFill>
              </a:rPr>
              <a:t>AI Device Troubleshooting Assistant  |  AO* on AND-OR Graphs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2743200" cy="91440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Initial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27432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E1E1E"/>
                </a:solidFill>
              </a:rPr>
              <a:t>AO* computes f values bottom-up</a:t>
            </a:r>
          </a:p>
          <a:p>
            <a:pPr algn="l"/>
            <a:r>
              <a:rPr sz="1400">
                <a:solidFill>
                  <a:srgbClr val="1E1E1E"/>
                </a:solidFill>
              </a:rPr>
              <a:t>Recommends: Boot in Safe Mode ($0)</a:t>
            </a:r>
          </a:p>
          <a:p>
            <a:pPr algn="l"/>
            <a:r>
              <a:rPr sz="1400">
                <a:solidFill>
                  <a:srgbClr val="1E1E1E"/>
                </a:solidFill>
              </a:rPr>
              <a:t>All free software fixes tried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560320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2850"/>
                </a:solidFill>
              </a:rPr>
              <a:t>-&gt;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463040"/>
            <a:ext cx="2743200" cy="91440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Step Fails (N)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377440"/>
            <a:ext cx="27432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46888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E1E1E"/>
                </a:solidFill>
              </a:rPr>
              <a:t>User marks step as FAILED</a:t>
            </a:r>
          </a:p>
          <a:p>
            <a:pPr algn="l"/>
            <a:r>
              <a:rPr sz="1400">
                <a:solidFill>
                  <a:srgbClr val="1E1E1E"/>
                </a:solidFill>
              </a:rPr>
              <a:t>f(leaf) = infinity</a:t>
            </a:r>
          </a:p>
          <a:p>
            <a:pPr algn="l"/>
            <a:r>
              <a:rPr sz="1400">
                <a:solidFill>
                  <a:srgbClr val="1E1E1E"/>
                </a:solidFill>
              </a:rPr>
              <a:t>Propagate up in O(depth)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560320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2850"/>
                </a:solidFill>
              </a:rPr>
              <a:t>-&gt;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463040"/>
            <a:ext cx="2743200" cy="914400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OR Node Updates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377440"/>
            <a:ext cx="27432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46888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E1E1E"/>
                </a:solidFill>
              </a:rPr>
              <a:t>OR parent skips failed child</a:t>
            </a:r>
          </a:p>
          <a:p>
            <a:pPr algn="l"/>
            <a:r>
              <a:rPr sz="1400">
                <a:solidFill>
                  <a:srgbClr val="1E1E1E"/>
                </a:solidFill>
              </a:rPr>
              <a:t>Selects next-best child</a:t>
            </a:r>
          </a:p>
          <a:p>
            <a:pPr algn="l"/>
            <a:r>
              <a:rPr sz="1400">
                <a:solidFill>
                  <a:srgbClr val="1E1E1E"/>
                </a:solidFill>
              </a:rPr>
              <a:t>f(parent) automatically updated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560320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2850"/>
                </a:solidFill>
              </a:rPr>
              <a:t>-&gt;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1463040"/>
            <a:ext cx="2743200" cy="91440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New Plan Ready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2377440"/>
            <a:ext cx="27432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46888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E1E1E"/>
                </a:solidFill>
              </a:rPr>
              <a:t>Re-extract path from root</a:t>
            </a:r>
          </a:p>
          <a:p>
            <a:pPr algn="l"/>
            <a:r>
              <a:rPr sz="1400">
                <a:solidFill>
                  <a:srgbClr val="1E1E1E"/>
                </a:solidFill>
              </a:rPr>
              <a:t>Next cheapest fix shown</a:t>
            </a:r>
          </a:p>
          <a:p>
            <a:pPr algn="l"/>
            <a:r>
              <a:rPr sz="1400">
                <a:solidFill>
                  <a:srgbClr val="1E1E1E"/>
                </a:solidFill>
              </a:rPr>
              <a:t>No full restart needed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120640"/>
            <a:ext cx="11430000" cy="128016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1937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0F0"/>
                </a:solidFill>
              </a:rPr>
              <a:t>AND Node Behaviour on Failure: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If ANY child of an AND node fails -&gt; entire AND node is marked FAILED.
Its OR parent then looks for the next alternative sub-tree. This correctly models mandatory sequential steps.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Results: AO* vs Random Fixing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0F0"/>
                </a:solidFill>
              </a:rPr>
              <a:t>Monte Carlo simulation — 2,000 trials per device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0F0"/>
                </a:solidFill>
              </a:rPr>
              <a:t>AI Device Troubleshooting Assistant  |  AO* on AND-OR Graphs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11430000" cy="50292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Device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508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AO*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08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Random Avg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Random Worst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508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Cost Saved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11680"/>
            <a:ext cx="11430000" cy="621792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1E"/>
                </a:solidFill>
              </a:rPr>
              <a:t>Laptop Won't 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103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7A3D"/>
                </a:solidFill>
              </a:rPr>
              <a:t>$0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103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1E1E"/>
                </a:solidFill>
              </a:rPr>
              <a:t>$272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2020"/>
                </a:solidFill>
              </a:rPr>
              <a:t>$535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7A3D"/>
                </a:solidFill>
              </a:rPr>
              <a:t>~100%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70048"/>
            <a:ext cx="114300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76148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1E"/>
                </a:solidFill>
              </a:rPr>
              <a:t>WiFi Not Working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7614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7A3D"/>
                </a:solidFill>
              </a:rPr>
              <a:t>$0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76148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1E1E"/>
                </a:solidFill>
              </a:rPr>
              <a:t>$18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7614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2020"/>
                </a:solidFill>
              </a:rPr>
              <a:t>$65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7614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7A3D"/>
                </a:solidFill>
              </a:rPr>
              <a:t>~100%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328416"/>
            <a:ext cx="11430000" cy="621792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41985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1E"/>
                </a:solidFill>
              </a:rPr>
              <a:t>Phone Overheating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4198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7A3D"/>
                </a:solidFill>
              </a:rPr>
              <a:t>$0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34198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1E1E"/>
                </a:solidFill>
              </a:rPr>
              <a:t>$42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4198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2020"/>
                </a:solidFill>
              </a:rPr>
              <a:t>$160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4198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7A3D"/>
                </a:solidFill>
              </a:rPr>
              <a:t>~100%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986784"/>
            <a:ext cx="114300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07822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1E"/>
                </a:solidFill>
              </a:rPr>
              <a:t>Printer Not Printing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407822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7A3D"/>
                </a:solidFill>
              </a:rPr>
              <a:t>$0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407822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1E1E"/>
                </a:solidFill>
              </a:rPr>
              <a:t>$38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07822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2020"/>
                </a:solidFill>
              </a:rPr>
              <a:t>$205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07822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7A3D"/>
                </a:solidFill>
              </a:rPr>
              <a:t>~100%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709160"/>
            <a:ext cx="11430000" cy="1508760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800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000"/>
                </a:solidFill>
              </a:rPr>
              <a:t>Key Insight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212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AO* always starts with the cheapest available fix (often free). Random users may attempt a $280 motherboard replacement before trying a free static discharge reset. AO* eliminates this by construction — the minimum-cost path is guaranteed optimal by the admissible heuristic.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0F0"/>
                </a:solidFill>
              </a:rPr>
              <a:t>Modular Python design — knowledge base is independent of the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0F0"/>
                </a:solidFill>
              </a:rPr>
              <a:t>AI Device Troubleshooting Assistant  |  AO* on AND-OR Graphs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3474720" cy="114300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276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and_or_graph.py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Data Structures
Node, NodeType, 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26080"/>
            <a:ext cx="3474720" cy="1143000"/>
          </a:xfrm>
          <a:prstGeom prst="rect">
            <a:avLst/>
          </a:prstGeom>
          <a:solidFill>
            <a:srgbClr val="1A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992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ao_star.py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290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AO* Engine
Cost propagation + replanning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554480"/>
            <a:ext cx="3474720" cy="114300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6276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knowledge_base.py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0574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Domain Knowledge
4 device problem trees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926080"/>
            <a:ext cx="3474720" cy="11430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29992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troubleshooter.py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4290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CLI Session
Interactive Y/N + summary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554480"/>
            <a:ext cx="3474720" cy="1143000"/>
          </a:xfrm>
          <a:prstGeom prst="rect">
            <a:avLst/>
          </a:prstGeom>
          <a:solidFill>
            <a:srgbClr val="C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6276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comparison.py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0574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Monte Carlo
AO* vs random simulation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2926080"/>
            <a:ext cx="3474720" cy="1143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29992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visualizer.py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34290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Rendering
ASCII tree + solution table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4297680"/>
            <a:ext cx="3474720" cy="114300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43708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main.py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480060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Menu Controller
Top-level flow control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94960"/>
            <a:ext cx="11430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4589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850"/>
                </a:solidFill>
              </a:rPr>
              <a:t>run.py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458968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E1E"/>
                </a:solidFill>
              </a:rPr>
              <a:t>Entry point:  python run.py
Presentation PDF:  python presentation/generate_pdf.py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0F0"/>
                </a:solidFill>
              </a:rPr>
              <a:t>AO* delivers optimal, adaptive device troubleshooting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0F0"/>
                </a:solidFill>
              </a:rPr>
              <a:t>AI Device Troubleshooting Assistant  |  AO* on AND-OR Graphs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4864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850"/>
                </a:solidFill>
              </a:rPr>
              <a:t>Achievements</a:t>
            </a:r>
          </a:p>
          <a:p>
            <a:pPr algn="l"/>
            <a:r>
              <a:rPr sz="1600">
                <a:solidFill>
                  <a:srgbClr val="1E1E1E"/>
                </a:solidFill>
              </a:rPr>
              <a:t>AND-OR graph knowledge base</a:t>
            </a:r>
          </a:p>
          <a:p>
            <a:pPr algn="l"/>
            <a:r>
              <a:rPr sz="1600">
                <a:solidFill>
                  <a:srgbClr val="1E1E1E"/>
                </a:solidFill>
              </a:rPr>
              <a:t>  covering 4 device categories</a:t>
            </a:r>
          </a:p>
          <a:p>
            <a:pPr algn="l"/>
            <a:r>
              <a:rPr sz="1600">
                <a:solidFill>
                  <a:srgbClr val="1E1E1E"/>
                </a:solidFill>
              </a:rPr>
              <a:t/>
            </a:r>
          </a:p>
          <a:p>
            <a:pPr algn="l"/>
            <a:r>
              <a:rPr sz="1600">
                <a:solidFill>
                  <a:srgbClr val="1E1E1E"/>
                </a:solidFill>
              </a:rPr>
              <a:t>AO* with dynamic replanning</a:t>
            </a:r>
          </a:p>
          <a:p>
            <a:pPr algn="l"/>
            <a:r>
              <a:rPr sz="1600">
                <a:solidFill>
                  <a:srgbClr val="1E1E1E"/>
                </a:solidFill>
              </a:rPr>
              <a:t>  O(depth) per failed step</a:t>
            </a:r>
          </a:p>
          <a:p>
            <a:pPr algn="l"/>
            <a:r>
              <a:rPr sz="1600">
                <a:solidFill>
                  <a:srgbClr val="1E1E1E"/>
                </a:solidFill>
              </a:rPr>
              <a:t/>
            </a:r>
          </a:p>
          <a:p>
            <a:pPr algn="l"/>
            <a:r>
              <a:rPr sz="1600">
                <a:solidFill>
                  <a:srgbClr val="1E1E1E"/>
                </a:solidFill>
              </a:rPr>
              <a:t>Interactive CLI session</a:t>
            </a:r>
          </a:p>
          <a:p>
            <a:pPr algn="l"/>
            <a:r>
              <a:rPr sz="1600">
                <a:solidFill>
                  <a:srgbClr val="1E1E1E"/>
                </a:solidFill>
              </a:rPr>
              <a:t>  Y / N / Q per step + summary</a:t>
            </a:r>
          </a:p>
          <a:p>
            <a:pPr algn="l"/>
            <a:r>
              <a:rPr sz="1600">
                <a:solidFill>
                  <a:srgbClr val="1E1E1E"/>
                </a:solidFill>
              </a:rPr>
              <a:t/>
            </a:r>
          </a:p>
          <a:p>
            <a:pPr algn="l"/>
            <a:r>
              <a:rPr sz="1600">
                <a:solidFill>
                  <a:srgbClr val="1E1E1E"/>
                </a:solidFill>
              </a:rPr>
              <a:t>Monte Carlo comparison</a:t>
            </a:r>
          </a:p>
          <a:p>
            <a:pPr algn="l"/>
            <a:r>
              <a:rPr sz="1600">
                <a:solidFill>
                  <a:srgbClr val="1E1E1E"/>
                </a:solidFill>
              </a:rPr>
              <a:t>  ~100% cost savings vs random</a:t>
            </a:r>
          </a:p>
          <a:p>
            <a:pPr algn="l"/>
            <a:r>
              <a:rPr sz="1600">
                <a:solidFill>
                  <a:srgbClr val="1E1E1E"/>
                </a:solidFill>
              </a:rPr>
              <a:t/>
            </a:r>
          </a:p>
          <a:p>
            <a:pPr algn="l"/>
            <a:r>
              <a:rPr sz="1600">
                <a:solidFill>
                  <a:srgbClr val="1E1E1E"/>
                </a:solidFill>
              </a:rPr>
              <a:t>100 viva Q&amp;A + PDF script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486400" cy="438912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B0F0"/>
                </a:solidFill>
              </a:rPr>
              <a:t>Future Work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Probabilistic AO* (PAO*)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  Add success probability per fix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  Minimise expected cost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Web / Mobile Frontend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  Replace CLI with React / Flutter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NLP Symptom Input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  Natural language -&gt; graph node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Learned Heuristics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  Update h(n) from session logs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Expanded Knowledge Base</a:t>
            </a:r>
          </a:p>
          <a:p>
            <a:pPr algn="l"/>
            <a:r>
              <a:rPr sz="1500">
                <a:solidFill>
                  <a:srgbClr val="FFFFFF"/>
                </a:solidFill>
              </a:rPr>
              <a:t>  20+ device categories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88952" cy="1097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83464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B0F0"/>
                </a:solidFill>
              </a:rPr>
              <a:t>We welcome your questions.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749039"/>
            <a:ext cx="4873752" cy="5486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02336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DDFF"/>
                </a:solidFill>
              </a:rPr>
              <a:t>github.com/gurtejlamba/AND-OR-diagnose
python run.py  -&gt;  try it live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